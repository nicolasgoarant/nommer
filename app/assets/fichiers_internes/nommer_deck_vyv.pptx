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DD6ABC7-7E17-4255-B43C-B15573FEC0AF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FF15E0-88F2-4076-AE6B-0AB1FC8EC3F8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B075FD-0193-4E73-A2AB-B15654F3197E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190954-64A9-4211-AB22-F930D88A9321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E4333-F3C1-4FA8-BB95-95688BBD5398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D1802F-69D5-4D97-9777-7F3F6BE4B5AD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4D52B-C126-4232-BEA9-D1231E55DB93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E5C32-DB37-42FA-A011-1E88EBA13D49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5CDDD3-D700-48D5-AE6F-E4091E2D372D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E5B191-E7D2-41F1-AD0A-A5D60CE6EE17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22DD3-4B36-41B9-BDD0-1AA3AFB9E446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nommer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48640" y="502920"/>
            <a:ext cx="164160" cy="164160"/>
          </a:xfrm>
          <a:prstGeom prst="ellipse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22960" y="4114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5c6b7a"/>
                </a:solidFill>
                <a:latin typeface="Calibri"/>
                <a:ea typeface="Calibri"/>
              </a:rPr>
              <a:t>NOMMER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1280160"/>
            <a:ext cx="8046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i="1" lang="fr-FR" sz="4800" spc="-1" strike="noStrike">
                <a:solidFill>
                  <a:srgbClr val="1c2b3a"/>
                </a:solidFill>
                <a:latin typeface="Georgia"/>
                <a:ea typeface="Georgia"/>
              </a:rPr>
              <a:t>Mettre des mots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i="1" lang="fr-FR" sz="4800" spc="-1" strike="noStrike">
                <a:solidFill>
                  <a:srgbClr val="1c2b3a"/>
                </a:solidFill>
                <a:latin typeface="Georgia"/>
                <a:ea typeface="Georgia"/>
              </a:rPr>
              <a:t>sur ce qu'on ressent.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329184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5c6b7a"/>
                </a:solidFill>
                <a:latin typeface="Calibri"/>
                <a:ea typeface="Calibri"/>
              </a:rPr>
              <a:t>Une plateforme pour les personnes en errance médicale.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48640" y="4297680"/>
            <a:ext cx="1371600" cy="360"/>
          </a:xfrm>
          <a:prstGeom prst="line">
            <a:avLst/>
          </a:prstGeom>
          <a:ln w="25400">
            <a:solidFill>
              <a:srgbClr val="c078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44348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Nicolas Goarant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5c6b7a"/>
                </a:solidFill>
                <a:latin typeface="Calibri"/>
                <a:ea typeface="Calibri"/>
              </a:rPr>
              <a:t>nommer.app  ·  nicolas.goarant@hotmail.fr  ·  06 67 06 31 79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943600" y="41148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457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Le problème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9144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600" spc="-1" strike="noStrike">
                <a:solidFill>
                  <a:srgbClr val="1c2b3a"/>
                </a:solidFill>
                <a:latin typeface="Georgia"/>
                <a:ea typeface="Georgia"/>
              </a:rPr>
              <a:t>L'errance médicale en France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600" spc="-1" strike="noStrike">
                <a:solidFill>
                  <a:srgbClr val="1c2b3a"/>
                </a:solidFill>
                <a:latin typeface="Georgia"/>
                <a:ea typeface="Georgia"/>
              </a:rPr>
              <a:t>une réalité importante, peu nommée.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457200" y="2560320"/>
            <a:ext cx="265140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c2b3a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457200" y="26974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c0785a"/>
                </a:solidFill>
                <a:latin typeface="Georgia"/>
                <a:ea typeface="Georgia"/>
              </a:rPr>
              <a:t>8 à 12 M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40080" y="352044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de personnes concernées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en France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3246120" y="2560320"/>
            <a:ext cx="265140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c2b3a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3246120" y="26974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c0785a"/>
                </a:solidFill>
                <a:latin typeface="Georgia"/>
                <a:ea typeface="Georgia"/>
              </a:rPr>
              <a:t>7 ans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3429000" y="352044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de délai moyen avant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un diagnostic posé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6035040" y="2560320"/>
            <a:ext cx="265140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c2b3a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035040" y="26974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c0785a"/>
                </a:solidFill>
                <a:latin typeface="Georgia"/>
                <a:ea typeface="Georgia"/>
              </a:rPr>
              <a:t>36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6217920" y="352044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pathologies documentées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sur Nommer aujourd'hui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548640" y="470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5c6b7a"/>
                </a:solidFill>
                <a:latin typeface="Calibri"/>
                <a:ea typeface="Calibri"/>
              </a:rPr>
              <a:t>Source : estimations Alliance Maladies Rares &amp; retours patients.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Ce que vivent ces personnes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914400" y="1280160"/>
            <a:ext cx="7314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ffffff"/>
                </a:solidFill>
                <a:latin typeface="Georgia"/>
                <a:ea typeface="Georgia"/>
              </a:rPr>
              <a:t>« Pendant des années, j'ai eu mal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ffffff"/>
                </a:solidFill>
                <a:latin typeface="Georgia"/>
                <a:ea typeface="Georgia"/>
              </a:rPr>
              <a:t>sans pouvoir mettre de mot dessus.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ffffff"/>
                </a:solidFill>
                <a:latin typeface="Georgia"/>
                <a:ea typeface="Georgia"/>
              </a:rPr>
              <a:t>Les médecins se renvoyaient la balle.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ffffff"/>
                </a:solidFill>
                <a:latin typeface="Georgia"/>
                <a:ea typeface="Georgia"/>
              </a:rPr>
              <a:t>Je ne savais même pas par où chercher. »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914400" y="3657600"/>
            <a:ext cx="731520" cy="360"/>
          </a:xfrm>
          <a:prstGeom prst="line">
            <a:avLst/>
          </a:prstGeom>
          <a:ln w="25400">
            <a:solidFill>
              <a:srgbClr val="c078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914400" y="37490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a8b5c2"/>
                </a:solidFill>
                <a:latin typeface="Calibri"/>
                <a:ea typeface="Calibri"/>
              </a:rPr>
              <a:t>Témoignage anonymisé — typique d'un parcours d'errance.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914400" y="429768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ccd3da"/>
                </a:solidFill>
                <a:latin typeface="Calibri"/>
                <a:ea typeface="Calibri"/>
              </a:rPr>
              <a:t>L'errance médicale n'est pas qu'une lenteur diagnostique : c'est un vécu où se conjuguent s</a:t>
            </a:r>
            <a:r>
              <a:rPr b="0" lang="fr-FR" sz="1200" spc="-1" strike="noStrike">
                <a:solidFill>
                  <a:srgbClr val="ccd3da"/>
                </a:solidFill>
                <a:latin typeface="Calibri"/>
                <a:ea typeface="Calibri"/>
              </a:rPr>
              <a:t>ymptômes flous, multiples spécialistes, sentiment d'isolement, perte de confiance dans le système de santé.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1"/>
          <p:cNvSpPr/>
          <p:nvPr/>
        </p:nvSpPr>
        <p:spPr>
          <a:xfrm>
            <a:off x="1670760" y="9802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3000" spc="-1" strike="noStrike">
                <a:solidFill>
                  <a:srgbClr val="1c2b3a"/>
                </a:solidFill>
                <a:latin typeface="Georgia"/>
                <a:ea typeface="Georgia"/>
              </a:rPr>
              <a:t>Pourquoi je construis </a:t>
            </a:r>
            <a:r>
              <a:rPr b="1" lang="fr-FR" sz="3000" spc="-1" strike="noStrike">
                <a:solidFill>
                  <a:srgbClr val="1c2b3a"/>
                </a:solidFill>
                <a:latin typeface="Georgia"/>
                <a:ea typeface="Georgia"/>
              </a:rPr>
              <a:t>Nommer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1920240"/>
            <a:ext cx="273960" cy="45360"/>
          </a:xfrm>
          <a:prstGeom prst="rect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457200" y="21031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600" spc="-1" strike="noStrike">
                <a:solidFill>
                  <a:srgbClr val="1c2b3a"/>
                </a:solidFill>
                <a:latin typeface="Georgia"/>
                <a:ea typeface="Georgia"/>
              </a:rPr>
              <a:t>Une expérience humaine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57200" y="2651760"/>
            <a:ext cx="26514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Je m’appelle Nicolas Goarant.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L'errance médicale, je l'ai croisée, j'en connais les conséquences, le coût aussi, et ce qu'elle représente.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3246120" y="1920240"/>
            <a:ext cx="273960" cy="45360"/>
          </a:xfrm>
          <a:prstGeom prst="rect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3246120" y="21031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600" spc="-1" strike="noStrike">
                <a:solidFill>
                  <a:srgbClr val="1c2b3a"/>
                </a:solidFill>
                <a:latin typeface="Georgia"/>
                <a:ea typeface="Georgia"/>
              </a:rPr>
              <a:t>15 ans de service public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3246120" y="2651760"/>
            <a:ext cx="26514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Mon parcours en cabinet (Assemblée nationale, Ville de Paris, Métropole du Grand Nancy) m'a appris à articuler problème social, action publique et outils concrets.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6035040" y="1920240"/>
            <a:ext cx="273960" cy="45360"/>
          </a:xfrm>
          <a:prstGeom prst="rect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6035040" y="21031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600" spc="-1" strike="noStrike">
                <a:solidFill>
                  <a:srgbClr val="1c2b3a"/>
                </a:solidFill>
                <a:latin typeface="Georgia"/>
                <a:ea typeface="Georgia"/>
              </a:rPr>
              <a:t>Le vide constaté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6035040" y="2651760"/>
            <a:ext cx="26514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5c6b7a"/>
                </a:solidFill>
                <a:latin typeface="Calibri"/>
                <a:ea typeface="Calibri"/>
              </a:rPr>
              <a:t>A l’heure des forums de patients et de l’Intelligence Artificielle, l’errance médicale continue pourtant de priver des millions de personnes du bon diagnostic, au bon moment.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54864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c0785a"/>
                </a:solidFill>
                <a:latin typeface="Calibri"/>
                <a:ea typeface="Calibri"/>
              </a:rPr>
              <a:t>[Slide à personnaliser : tu remplaceras ces trois textes par ton récit propre.]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1080000" cy="10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La proposition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548640" y="9144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4400" spc="-1" strike="noStrike">
                <a:solidFill>
                  <a:srgbClr val="1c2b3a"/>
                </a:solidFill>
                <a:latin typeface="Georgia"/>
                <a:ea typeface="Georgia"/>
              </a:rPr>
              <a:t>Nomme</a:t>
            </a:r>
            <a:r>
              <a:rPr b="0" i="1" lang="fr-FR" sz="4400" spc="-1" strike="noStrike">
                <a:solidFill>
                  <a:srgbClr val="1c2b3a"/>
                </a:solidFill>
                <a:latin typeface="Georgia"/>
                <a:ea typeface="Georgia"/>
              </a:rPr>
              <a:t>r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48640" y="201168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1c2b3a"/>
                </a:solidFill>
                <a:latin typeface="Georgia"/>
                <a:ea typeface="Georgia"/>
              </a:rPr>
              <a:t>Une plateforme calme et documentée pour </a:t>
            </a:r>
            <a:r>
              <a:rPr b="1" i="1" lang="fr-FR" sz="2200" spc="-1" strike="noStrike">
                <a:solidFill>
                  <a:srgbClr val="c0785a"/>
                </a:solidFill>
                <a:latin typeface="Georgia"/>
                <a:ea typeface="Georgia"/>
              </a:rPr>
              <a:t>mettre des mots sur ce qu'on ressent</a:t>
            </a:r>
            <a:r>
              <a:rPr b="0" i="1" lang="fr-FR" sz="2200" spc="-1" strike="noStrike">
                <a:solidFill>
                  <a:srgbClr val="1c2b3a"/>
                </a:solidFill>
                <a:latin typeface="Georgia"/>
                <a:ea typeface="Georgia"/>
              </a:rPr>
              <a:t>, explorer des pistes, et tenir un journal de bord – sans néanmoins, c’est important, diagnostiquer à la place du médecin.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48640" y="4297680"/>
            <a:ext cx="1097280" cy="360"/>
          </a:xfrm>
          <a:prstGeom prst="line">
            <a:avLst/>
          </a:prstGeom>
          <a:ln w="25400">
            <a:solidFill>
              <a:srgbClr val="c078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48640" y="4434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400" spc="-1" strike="noStrike">
                <a:solidFill>
                  <a:srgbClr val="5c6b7a"/>
                </a:solidFill>
                <a:latin typeface="Calibri"/>
                <a:ea typeface="Calibri"/>
              </a:rPr>
              <a:t>En ligne sur </a:t>
            </a:r>
            <a:r>
              <a:rPr b="1" lang="fr-FR" sz="1400" spc="-1" strike="noStrike">
                <a:solidFill>
                  <a:srgbClr val="5c6b7a"/>
                </a:solidFill>
                <a:latin typeface="Calibri"/>
                <a:ea typeface="Calibri"/>
                <a:hlinkClick r:id="rId1"/>
              </a:rPr>
              <a:t>www.nommer.app</a:t>
            </a:r>
            <a:r>
              <a:rPr b="1" lang="fr-FR" sz="1400" spc="-1" strike="noStrike">
                <a:solidFill>
                  <a:srgbClr val="5c6b7a"/>
                </a:solidFill>
                <a:latin typeface="Calibri"/>
                <a:ea typeface="Calibri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Ce que propose la plateforme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48640" y="9144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600" spc="-1" strike="noStrike">
                <a:solidFill>
                  <a:srgbClr val="1c2b3a"/>
                </a:solidFill>
                <a:latin typeface="Georgia"/>
                <a:ea typeface="Georgia"/>
              </a:rPr>
              <a:t>Trois piliers, une même intention.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457200" y="1828800"/>
            <a:ext cx="2651400" cy="292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c2b3a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731520" y="20116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2800" spc="-1" strike="noStrike">
                <a:solidFill>
                  <a:srgbClr val="c0785a"/>
                </a:solidFill>
                <a:latin typeface="Georgia"/>
                <a:ea typeface="Georgia"/>
              </a:rPr>
              <a:t>01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73152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500" spc="-1" strike="noStrike">
                <a:solidFill>
                  <a:srgbClr val="1c2b3a"/>
                </a:solidFill>
                <a:latin typeface="Georgia"/>
                <a:ea typeface="Georgia"/>
              </a:rPr>
              <a:t>Fiches pathologies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731520" y="3063240"/>
            <a:ext cx="21027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5c6b7a"/>
                </a:solidFill>
                <a:latin typeface="Calibri"/>
                <a:ea typeface="Calibri"/>
              </a:rPr>
              <a:t>36 fiches documentées dans un langage clair, rédigées pour être lues quand on est fatigué et inquiet. Sources médicales, images apaisées, vidéos pédagogiques.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3246120" y="1828800"/>
            <a:ext cx="2651400" cy="292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c2b3a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3520440" y="20116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2800" spc="-1" strike="noStrike">
                <a:solidFill>
                  <a:srgbClr val="c0785a"/>
                </a:solidFill>
                <a:latin typeface="Georgia"/>
                <a:ea typeface="Georgia"/>
              </a:rPr>
              <a:t>02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352044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500" spc="-1" strike="noStrike">
                <a:solidFill>
                  <a:srgbClr val="1c2b3a"/>
                </a:solidFill>
                <a:latin typeface="Georgia"/>
                <a:ea typeface="Georgia"/>
              </a:rPr>
              <a:t>Questionnaire IA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3520440" y="3063240"/>
            <a:ext cx="21027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5c6b7a"/>
                </a:solidFill>
                <a:latin typeface="Calibri"/>
                <a:ea typeface="Calibri"/>
              </a:rPr>
              <a:t>Un échange guidé qui aide à formuler ce qu'on ressent et propose des pistes documentées à explorer avec un professionnel. Jamais un diagnostic, toujours un point de départ.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6035040" y="1828800"/>
            <a:ext cx="2651400" cy="292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c2b3a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6309360" y="201168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2800" spc="-1" strike="noStrike">
                <a:solidFill>
                  <a:srgbClr val="c0785a"/>
                </a:solidFill>
                <a:latin typeface="Georgia"/>
                <a:ea typeface="Georgia"/>
              </a:rPr>
              <a:t>03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630936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500" spc="-1" strike="noStrike">
                <a:solidFill>
                  <a:srgbClr val="1c2b3a"/>
                </a:solidFill>
                <a:latin typeface="Georgia"/>
                <a:ea typeface="Georgia"/>
              </a:rPr>
              <a:t>Journal de bord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6309360" y="3063240"/>
            <a:ext cx="21027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5c6b7a"/>
                </a:solidFill>
                <a:latin typeface="Calibri"/>
                <a:ea typeface="Calibri"/>
              </a:rPr>
              <a:t>Un espace privé pour noter symptômes, consultations, ressentis. Pour préparer ses rendez-vous médicaux, et pour ne pas porter seul·e la mémoire de son parcours.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Aperçu du produit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48640" y="9144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400" spc="-1" strike="noStrike">
                <a:solidFill>
                  <a:srgbClr val="1c2b3a"/>
                </a:solidFill>
                <a:latin typeface="Georgia"/>
                <a:ea typeface="Georgia"/>
              </a:rPr>
              <a:t>Le site est en ligne, le design abouti.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57200" y="1920240"/>
            <a:ext cx="2651400" cy="149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5"/>
            </a:solidFill>
            <a:round/>
          </a:ln>
          <a:effectLst>
            <a:outerShdw algn="bl" blurRad="101520" dir="5400000" dist="25560" kx="0" ky="0" rotWithShape="0" sx="100000" sy="100000">
              <a:srgbClr val="1c2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captures/home_clean.png"/>
          <p:cNvPicPr/>
          <p:nvPr/>
        </p:nvPicPr>
        <p:blipFill>
          <a:blip r:embed="rId1"/>
          <a:stretch/>
        </p:blipFill>
        <p:spPr>
          <a:xfrm>
            <a:off x="457200" y="1920240"/>
            <a:ext cx="2651400" cy="1491120"/>
          </a:xfrm>
          <a:prstGeom prst="rect">
            <a:avLst/>
          </a:prstGeom>
          <a:ln w="0">
            <a:noFill/>
          </a:ln>
        </p:spPr>
      </p:pic>
      <p:sp>
        <p:nvSpPr>
          <p:cNvPr id="67" name="Text 3"/>
          <p:cNvSpPr/>
          <p:nvPr/>
        </p:nvSpPr>
        <p:spPr>
          <a:xfrm>
            <a:off x="457200" y="36403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400" spc="-1" strike="noStrike">
                <a:solidFill>
                  <a:srgbClr val="1c2b3a"/>
                </a:solidFill>
                <a:latin typeface="Georgia"/>
                <a:ea typeface="Georgia"/>
              </a:rPr>
              <a:t>Page d'accueil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457200" y="400608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5c6b7a"/>
                </a:solidFill>
                <a:latin typeface="Calibri"/>
                <a:ea typeface="Calibri"/>
              </a:rPr>
              <a:t>Un Hero apaisé, un ton calme.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3246120" y="1920240"/>
            <a:ext cx="2651400" cy="149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5"/>
            </a:solidFill>
            <a:round/>
          </a:ln>
          <a:effectLst>
            <a:outerShdw algn="bl" blurRad="101520" dir="5400000" dist="25560" kx="0" ky="0" rotWithShape="0" sx="100000" sy="100000">
              <a:srgbClr val="1c2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 1" descr="captures/pathologie_cropped.png"/>
          <p:cNvPicPr/>
          <p:nvPr/>
        </p:nvPicPr>
        <p:blipFill>
          <a:blip r:embed="rId2"/>
          <a:stretch/>
        </p:blipFill>
        <p:spPr>
          <a:xfrm>
            <a:off x="3246120" y="1920240"/>
            <a:ext cx="2651400" cy="1491120"/>
          </a:xfrm>
          <a:prstGeom prst="rect">
            <a:avLst/>
          </a:prstGeom>
          <a:ln w="0">
            <a:noFill/>
          </a:ln>
        </p:spPr>
      </p:pic>
      <p:sp>
        <p:nvSpPr>
          <p:cNvPr id="71" name="Text 6"/>
          <p:cNvSpPr/>
          <p:nvPr/>
        </p:nvSpPr>
        <p:spPr>
          <a:xfrm>
            <a:off x="3246120" y="36403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400" spc="-1" strike="noStrike">
                <a:solidFill>
                  <a:srgbClr val="1c2b3a"/>
                </a:solidFill>
                <a:latin typeface="Georgia"/>
                <a:ea typeface="Georgia"/>
              </a:rPr>
              <a:t>Fiche pathologie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3246120" y="400608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b7a"/>
                </a:solidFill>
                <a:latin typeface="Calibri"/>
                <a:ea typeface="Calibri"/>
              </a:rPr>
              <a:t>Un langage clair, déjà des vidéos et témoignages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6035040" y="1920240"/>
            <a:ext cx="2651400" cy="149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5"/>
            </a:solidFill>
            <a:round/>
          </a:ln>
          <a:effectLst>
            <a:outerShdw algn="bl" blurRad="101520" dir="5400000" dist="25560" kx="0" ky="0" rotWithShape="0" sx="100000" sy="100000">
              <a:srgbClr val="1c2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2" descr="captures/journal_clean.png"/>
          <p:cNvPicPr/>
          <p:nvPr/>
        </p:nvPicPr>
        <p:blipFill>
          <a:blip r:embed="rId3"/>
          <a:stretch/>
        </p:blipFill>
        <p:spPr>
          <a:xfrm>
            <a:off x="6035040" y="1920240"/>
            <a:ext cx="2651400" cy="1491120"/>
          </a:xfrm>
          <a:prstGeom prst="rect">
            <a:avLst/>
          </a:prstGeom>
          <a:ln w="0">
            <a:noFill/>
          </a:ln>
        </p:spPr>
      </p:pic>
      <p:sp>
        <p:nvSpPr>
          <p:cNvPr id="75" name="Text 9"/>
          <p:cNvSpPr/>
          <p:nvPr/>
        </p:nvSpPr>
        <p:spPr>
          <a:xfrm>
            <a:off x="6035040" y="36403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400" spc="-1" strike="noStrike">
                <a:solidFill>
                  <a:srgbClr val="1c2b3a"/>
                </a:solidFill>
                <a:latin typeface="Georgia"/>
                <a:ea typeface="Georgia"/>
              </a:rPr>
              <a:t>Journal de bord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6035040" y="400608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5c6b7a"/>
                </a:solidFill>
                <a:latin typeface="Calibri"/>
                <a:ea typeface="Calibri"/>
              </a:rPr>
              <a:t>Un Espace privé pour préparer ses consultations.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548640" y="470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000" spc="-1" strike="noStrike">
                <a:solidFill>
                  <a:srgbClr val="5c6b7a"/>
                </a:solidFill>
                <a:latin typeface="Calibri"/>
                <a:ea typeface="Calibri"/>
              </a:rPr>
              <a:t>En ligne sur nommer.app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Le positionnement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9144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600" spc="-1" strike="noStrike">
                <a:solidFill>
                  <a:srgbClr val="1c2b3a"/>
                </a:solidFill>
                <a:latin typeface="Georgia"/>
                <a:ea typeface="Georgia"/>
              </a:rPr>
              <a:t>Ni Doctissimo, ni encyclopédie médicale.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457200" y="1920240"/>
            <a:ext cx="3931560" cy="2651400"/>
          </a:xfrm>
          <a:prstGeom prst="rect">
            <a:avLst/>
          </a:prstGeom>
          <a:solidFill>
            <a:srgbClr val="eae3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731520" y="21031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398" strike="noStrike">
                <a:solidFill>
                  <a:srgbClr val="5c6b7a"/>
                </a:solidFill>
                <a:latin typeface="Calibri"/>
                <a:ea typeface="Calibri"/>
              </a:rPr>
              <a:t>Ce que Nommer n'est pas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731520" y="2514600"/>
            <a:ext cx="33829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Un outil de diagnostic médical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Un forum de patient 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Un substitut au professionnel de santé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Une base de données froide à filtrer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4754880" y="1920240"/>
            <a:ext cx="3931560" cy="2651400"/>
          </a:xfrm>
          <a:prstGeom prst="rect">
            <a:avLst/>
          </a:prstGeom>
          <a:solidFill>
            <a:srgbClr val="1c2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5029200" y="21031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398" strike="noStrike">
                <a:solidFill>
                  <a:srgbClr val="c0785a"/>
                </a:solidFill>
                <a:latin typeface="Calibri"/>
                <a:ea typeface="Calibri"/>
              </a:rPr>
              <a:t>Ce que Nommer est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5029200" y="2514600"/>
            <a:ext cx="33829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ffffff"/>
                </a:solidFill>
                <a:latin typeface="Calibri"/>
                <a:ea typeface="Calibri"/>
              </a:rPr>
              <a:t>Un espace calme pour formuler ce qu'on ressent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ffffff"/>
                </a:solidFill>
                <a:latin typeface="Calibri"/>
                <a:ea typeface="Calibri"/>
              </a:rPr>
              <a:t>Un point de départ documenté et apaisé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ffffff"/>
                </a:solidFill>
                <a:latin typeface="Calibri"/>
                <a:ea typeface="Calibri"/>
              </a:rPr>
              <a:t>Un compagnon pour préparer les consultations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fr-FR" sz="1300" spc="-1" strike="noStrike">
                <a:solidFill>
                  <a:srgbClr val="ffffff"/>
                </a:solidFill>
                <a:latin typeface="Calibri"/>
                <a:ea typeface="Calibri"/>
              </a:rPr>
              <a:t>Une démarche de dignité dans le parcours patient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548640" y="470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200" spc="-1" strike="noStrike">
                <a:solidFill>
                  <a:srgbClr val="c0785a"/>
                </a:solidFill>
                <a:latin typeface="Georgia"/>
                <a:ea typeface="Georgia"/>
              </a:rPr>
              <a:t>Mettre des mots ne soigne pas. Mais c'est souvent le premier pas vers le soin.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Où j'en suis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48640" y="9144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400" spc="-1" strike="noStrike">
                <a:solidFill>
                  <a:srgbClr val="1c2b3a"/>
                </a:solidFill>
                <a:latin typeface="Georgia"/>
                <a:ea typeface="Georgia"/>
              </a:rPr>
              <a:t>Le produit existe. Le projet se cherche encore.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57200" y="1828800"/>
            <a:ext cx="72720" cy="2742840"/>
          </a:xfrm>
          <a:prstGeom prst="rect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685800" y="1828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398" strike="noStrike">
                <a:solidFill>
                  <a:srgbClr val="5c6b7a"/>
                </a:solidFill>
                <a:latin typeface="Calibri"/>
                <a:ea typeface="Calibri"/>
              </a:rPr>
              <a:t>Ce qui est fait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685800" y="224028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Site en ligne sur www.nommer.app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36 pathologies documentées, images et vidéos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Questionnaire IA fonctionnel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Journal de bord et comptes utilisateurs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Identité visuelle aboutie, design apaisé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Hébergement, domaine, infrastructure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4754880" y="1828800"/>
            <a:ext cx="72720" cy="2742840"/>
          </a:xfrm>
          <a:prstGeom prst="rect">
            <a:avLst/>
          </a:prstGeom>
          <a:solidFill>
            <a:srgbClr val="5c6b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4983480" y="1828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398" strike="noStrike">
                <a:solidFill>
                  <a:srgbClr val="5c6b7a"/>
                </a:solidFill>
                <a:latin typeface="Calibri"/>
                <a:ea typeface="Calibri"/>
              </a:rPr>
              <a:t>Ce qui reste à construire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4983480" y="224028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Structure juridique adaptée à la mission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Modèle économique soutenable et cohérent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Premiers usages et retours utilisateurs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Partenariats avec des acteurs du soin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Validation médicale des contenus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b3a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1c2b3a"/>
                </a:solidFill>
                <a:latin typeface="Calibri"/>
                <a:ea typeface="Calibri"/>
              </a:rPr>
              <a:t>Diffusion vers les bons publics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48640" y="470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200" spc="-1" strike="noStrike">
                <a:solidFill>
                  <a:srgbClr val="c0785a"/>
                </a:solidFill>
                <a:latin typeface="Georgia"/>
                <a:ea typeface="Georgia"/>
              </a:rPr>
              <a:t>À ce stade, Nommer est un projet personnel. Je viens chercher du regard avant de structurer.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457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599" strike="noStrike">
                <a:solidFill>
                  <a:srgbClr val="c0785a"/>
                </a:solidFill>
                <a:latin typeface="Calibri"/>
                <a:ea typeface="Calibri"/>
              </a:rPr>
              <a:t>Ce que je viens chercher dans cet échange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9144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2800" spc="-1" strike="noStrike">
                <a:solidFill>
                  <a:srgbClr val="1c2b3a"/>
                </a:solidFill>
                <a:latin typeface="Georgia"/>
                <a:ea typeface="Georgia"/>
              </a:rPr>
              <a:t>Un regard.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48640" y="16916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5c6b7a"/>
                </a:solidFill>
                <a:latin typeface="Calibri"/>
                <a:ea typeface="Calibri"/>
              </a:rPr>
              <a:t>Trois questions pour lesquelles votre avis aurait beaucoup de valeur 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548640" y="2194560"/>
            <a:ext cx="456840" cy="456840"/>
          </a:xfrm>
          <a:prstGeom prst="ellipse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548640" y="2194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1188720" y="214884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Comment, dans votre expérience, un projet de ce type peut-il rencontrer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utilement une mutuelle — sans dénaturer sa mission de départ ?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548640" y="3017520"/>
            <a:ext cx="456840" cy="456840"/>
          </a:xfrm>
          <a:prstGeom prst="ellipse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548640" y="3017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1188720" y="297180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Quels modèles économiques avez-vous vus fonctionner pour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des initiatives à mi-chemin entre service public et intérêt général ?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548640" y="3840480"/>
            <a:ext cx="456840" cy="456840"/>
          </a:xfrm>
          <a:prstGeom prst="ellipse">
            <a:avLst/>
          </a:prstGeom>
          <a:solidFill>
            <a:srgbClr val="c078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54864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ffffff"/>
                </a:solidFill>
                <a:latin typeface="Georgia"/>
                <a:ea typeface="Georgia"/>
              </a:rPr>
              <a:t>3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1188720" y="379476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Comment toucher les bonnes personnes — celles qui vivent une errance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300" spc="-1" strike="noStrike">
                <a:solidFill>
                  <a:srgbClr val="1c2b3a"/>
                </a:solidFill>
                <a:latin typeface="Calibri"/>
                <a:ea typeface="Calibri"/>
              </a:rPr>
              <a:t>et qui ne savent pas qu'un outil comme Nommer pourrait les aider ?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548640" y="4709160"/>
            <a:ext cx="1371600" cy="360"/>
          </a:xfrm>
          <a:prstGeom prst="line">
            <a:avLst/>
          </a:prstGeom>
          <a:ln w="25400">
            <a:solidFill>
              <a:srgbClr val="c078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548640" y="4800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5c6b7a"/>
                </a:solidFill>
                <a:latin typeface="Calibri"/>
                <a:ea typeface="Calibri"/>
              </a:rPr>
              <a:t>Merci pour votre temps.   Nicolas Goarant  ·  nommer.app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2026-05-26T11:36:30Z</dcterms:created>
  <dc:creator>Nicolas Goarant</dc:creator>
  <dc:description/>
  <dc:language>fr-FR</dc:language>
  <cp:lastModifiedBy/>
  <dcterms:modified xsi:type="dcterms:W3CDTF">2026-05-26T16:57:40Z</dcterms:modified>
  <cp:revision>13</cp:revision>
  <dc:subject>Nommer, une plateforme pour les personnes en errance médicale</dc:subject>
  <dc:title>Nommer — Présentation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